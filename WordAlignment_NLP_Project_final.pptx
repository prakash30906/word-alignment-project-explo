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7C3DB-3F1C-4F1E-AB5E-8F0D292ECEAC}" v="3" dt="2026-05-04T09:14:10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85005" autoAdjust="0"/>
  </p:normalViewPr>
  <p:slideViewPr>
    <p:cSldViewPr snapToGrid="0" snapToObjects="1">
      <p:cViewPr varScale="1">
        <p:scale>
          <a:sx n="97" d="100"/>
          <a:sy n="97" d="100"/>
        </p:scale>
        <p:origin x="84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u prakash Papabathina" userId="e115d5774774a128" providerId="LiveId" clId="{C76C8385-B2E5-41F7-9662-80CA7EFCFC8B}"/>
    <pc:docChg chg="custSel delSld modSld">
      <pc:chgData name="Bhanu prakash Papabathina" userId="e115d5774774a128" providerId="LiveId" clId="{C76C8385-B2E5-41F7-9662-80CA7EFCFC8B}" dt="2026-05-04T09:16:40.953" v="191" actId="207"/>
      <pc:docMkLst>
        <pc:docMk/>
      </pc:docMkLst>
      <pc:sldChg chg="addSp delSp modSp mod modNotesTx">
        <pc:chgData name="Bhanu prakash Papabathina" userId="e115d5774774a128" providerId="LiveId" clId="{C76C8385-B2E5-41F7-9662-80CA7EFCFC8B}" dt="2026-05-04T09:16:40.953" v="191" actId="207"/>
        <pc:sldMkLst>
          <pc:docMk/>
          <pc:sldMk cId="0" sldId="256"/>
        </pc:sldMkLst>
        <pc:spChg chg="del">
          <ac:chgData name="Bhanu prakash Papabathina" userId="e115d5774774a128" providerId="LiveId" clId="{C76C8385-B2E5-41F7-9662-80CA7EFCFC8B}" dt="2026-05-04T09:13:24.304" v="172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Bhanu prakash Papabathina" userId="e115d5774774a128" providerId="LiveId" clId="{C76C8385-B2E5-41F7-9662-80CA7EFCFC8B}" dt="2026-05-04T09:13:21.536" v="171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Bhanu prakash Papabathina" userId="e115d5774774a128" providerId="LiveId" clId="{C76C8385-B2E5-41F7-9662-80CA7EFCFC8B}" dt="2026-05-04T09:13:19.496" v="170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Bhanu prakash Papabathina" userId="e115d5774774a128" providerId="LiveId" clId="{C76C8385-B2E5-41F7-9662-80CA7EFCFC8B}" dt="2026-05-04T09:14:41.846" v="179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Bhanu prakash Papabathina" userId="e115d5774774a128" providerId="LiveId" clId="{C76C8385-B2E5-41F7-9662-80CA7EFCFC8B}" dt="2026-05-04T09:15:34.812" v="186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Bhanu prakash Papabathina" userId="e115d5774774a128" providerId="LiveId" clId="{C76C8385-B2E5-41F7-9662-80CA7EFCFC8B}" dt="2026-05-04T09:15:45.065" v="187" actId="20577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Bhanu prakash Papabathina" userId="e115d5774774a128" providerId="LiveId" clId="{C76C8385-B2E5-41F7-9662-80CA7EFCFC8B}" dt="2026-05-04T09:13:08.896" v="169" actId="207"/>
          <ac:spMkLst>
            <pc:docMk/>
            <pc:sldMk cId="0" sldId="256"/>
            <ac:spMk id="13" creationId="{AC2E79A2-289A-412E-64B0-EE7794CE6547}"/>
          </ac:spMkLst>
        </pc:spChg>
        <pc:spChg chg="add mod">
          <ac:chgData name="Bhanu prakash Papabathina" userId="e115d5774774a128" providerId="LiveId" clId="{C76C8385-B2E5-41F7-9662-80CA7EFCFC8B}" dt="2026-05-04T09:16:40.953" v="191" actId="207"/>
          <ac:spMkLst>
            <pc:docMk/>
            <pc:sldMk cId="0" sldId="256"/>
            <ac:spMk id="15" creationId="{88A6C09C-0666-4B17-4CC4-B311193AE95A}"/>
          </ac:spMkLst>
        </pc:spChg>
      </pc:sldChg>
      <pc:sldChg chg="del">
        <pc:chgData name="Bhanu prakash Papabathina" userId="e115d5774774a128" providerId="LiveId" clId="{C76C8385-B2E5-41F7-9662-80CA7EFCFC8B}" dt="2026-05-04T07:20:02.796" v="70" actId="2696"/>
        <pc:sldMkLst>
          <pc:docMk/>
          <pc:sldMk cId="0" sldId="269"/>
        </pc:sldMkLst>
      </pc:sldChg>
      <pc:sldChg chg="del">
        <pc:chgData name="Bhanu prakash Papabathina" userId="e115d5774774a128" providerId="LiveId" clId="{C76C8385-B2E5-41F7-9662-80CA7EFCFC8B}" dt="2026-05-04T07:19:40.084" v="69" actId="2696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322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48640" y="50292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NLP Lab Project  •  2025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8913" y="941597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flipV="1">
            <a:off x="368914" y="850391"/>
            <a:ext cx="4460064" cy="149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6DC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br>
              <a:rPr lang="en-US" sz="2800" dirty="0">
                <a:solidFill>
                  <a:srgbClr val="D6DC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</a:b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232161"/>
            <a:ext cx="432605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A8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B8B8F">
              <a:alpha val="25000"/>
            </a:srgbClr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DCF5"/>
                </a:solidFill>
              </a:rPr>
              <a:t>Technologies: NLLB-200  |  LaBSE  |  Itermax  |  Django REST Framework  |  HTML Canvas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2E79A2-289A-412E-64B0-EE7794CE6547}"/>
              </a:ext>
            </a:extLst>
          </p:cNvPr>
          <p:cNvSpPr txBox="1"/>
          <p:nvPr/>
        </p:nvSpPr>
        <p:spPr>
          <a:xfrm>
            <a:off x="4828978" y="3035807"/>
            <a:ext cx="3857822" cy="1382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Submitted by: Bhanu prakash </a:t>
            </a:r>
            <a:r>
              <a:rPr lang="en-US" sz="1200" b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papabathina</a:t>
            </a:r>
            <a:endParaRPr lang="en-US" sz="1200" b="1" dirty="0">
              <a:solidFill>
                <a:schemeClr val="tx2">
                  <a:lumMod val="40000"/>
                  <a:lumOff val="60000"/>
                </a:schemeClr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2640"/>
              </a:lnSpc>
            </a:pPr>
            <a:r>
              <a:rPr lang="en-US"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Roll NO: 24075063 </a:t>
            </a:r>
          </a:p>
          <a:p>
            <a:pPr algn="l">
              <a:lnSpc>
                <a:spcPts val="2639"/>
              </a:lnSpc>
            </a:pPr>
            <a:r>
              <a:rPr lang="en-US"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SUPERVISOR : Prof . Anil Kumar Singh</a:t>
            </a:r>
          </a:p>
          <a:p>
            <a:pPr algn="l">
              <a:lnSpc>
                <a:spcPts val="2640"/>
              </a:lnSpc>
            </a:pPr>
            <a:r>
              <a:rPr lang="en-US" sz="12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 (MS)"/>
                <a:ea typeface="Calibri (MS)"/>
                <a:cs typeface="Calibri (MS)"/>
                <a:sym typeface="Calibri (MS)"/>
              </a:rPr>
              <a:t>Department of CSE, IIT (BHU</a:t>
            </a:r>
            <a:endParaRPr lang="en-IN" sz="1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A6C09C-0666-4B17-4CC4-B311193AE95A}"/>
              </a:ext>
            </a:extLst>
          </p:cNvPr>
          <p:cNvSpPr txBox="1"/>
          <p:nvPr/>
        </p:nvSpPr>
        <p:spPr>
          <a:xfrm>
            <a:off x="502920" y="1076487"/>
            <a:ext cx="45798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Experiments &amp; Evaluation of English–Hindi                                         </a:t>
            </a:r>
            <a:endParaRPr lang="en-US" sz="20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Alignment integrated into a Django NLP Lab Website</a:t>
            </a:r>
            <a:endParaRPr lang="en-US" sz="20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75488" cy="658368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0881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140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3990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Why word alignment for Hindi is hard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196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19656"/>
            <a:ext cx="475488" cy="658368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1965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18562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140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" y="21671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End-to-end data flow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8775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87752"/>
            <a:ext cx="475488" cy="658368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" y="26243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140"/>
                </a:solidFill>
              </a:rPr>
              <a:t>Translation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" y="293522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NLLB-200 — English to Hindi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3558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355848"/>
            <a:ext cx="475488" cy="658368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5584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" y="339242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140"/>
                </a:solidFill>
              </a:rPr>
              <a:t>Word Embeddings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" y="37033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LaBSE cross-lingual vectors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12394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123944"/>
            <a:ext cx="475488" cy="658368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2394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0392" y="4160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140"/>
                </a:solidFill>
              </a:rPr>
              <a:t>Similarity Matrix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" y="447141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Cosine similarity heatmap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105156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051560"/>
            <a:ext cx="475488" cy="658368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05156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30952" y="10881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140"/>
                </a:solidFill>
              </a:rPr>
              <a:t>Alignment Algorithms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30952" y="13990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Itermax + Bidirectional softmax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18196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1819656"/>
            <a:ext cx="475488" cy="658368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81965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30952" y="18562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140"/>
                </a:solidFill>
              </a:rPr>
              <a:t>Django Web Platform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30952" y="21671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REST API, models, views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258775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2587752"/>
            <a:ext cx="475488" cy="658368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58775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30952" y="26243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140"/>
                </a:solidFill>
              </a:rPr>
              <a:t>Live Website UI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30952" y="293522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Alignment table &amp; heatmap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3558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3355848"/>
            <a:ext cx="475488" cy="658368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35584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30952" y="339242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140"/>
                </a:solidFill>
              </a:rPr>
              <a:t>Key Results &amp; Significance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30952" y="37033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What makes this work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412394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00600" y="4123944"/>
            <a:ext cx="475488" cy="658368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12394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330952" y="4160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140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30952" y="447141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Summary &amp; future scope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is This a Hard Problem?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834640" cy="502920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 1: Different Word Orders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1572768"/>
            <a:ext cx="2615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140"/>
                </a:solidFill>
              </a:rPr>
              <a:t>English is Subject-Verb-Object.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40"/>
                </a:solidFill>
              </a:rPr>
              <a:t>Hindi is Subject-Object-Verb.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40"/>
                </a:solidFill>
              </a:rPr>
              <a:t>Position-based matching fails completely.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2651760" cy="1024128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29626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B8F"/>
                </a:solidFill>
              </a:rPr>
              <a:t>Example: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" y="318211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140"/>
                </a:solidFill>
              </a:rPr>
              <a:t>English: "The teacher explained the lesson"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40"/>
                </a:solidFill>
              </a:rPr>
              <a:t>Hindi: "शिक्षक पाठ समझाया"  (verb comes last)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05840"/>
            <a:ext cx="2834640" cy="502920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 2: Many-to-Many Alignment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572768"/>
            <a:ext cx="2615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140"/>
                </a:solidFill>
              </a:rPr>
              <a:t>"has been explaining" (3 English words)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40"/>
                </a:solidFill>
              </a:rPr>
              <a:t>maps to "समझा रहा है" (3 Hindi words)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40"/>
                </a:solidFill>
              </a:rPr>
              <a:t>but in a completely rearranged order.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2926080"/>
            <a:ext cx="2651760" cy="1024128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29626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B8F"/>
                </a:solidFill>
              </a:rPr>
              <a:t>Example: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00984" y="318211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140"/>
                </a:solidFill>
              </a:rPr>
              <a:t>"in the classroom" → "कक्षा में"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40"/>
                </a:solidFill>
              </a:rPr>
              <a:t>(Article "the" disappears — 3 words → 2 words)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834640" cy="502920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 3: Low Resource Language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1572768"/>
            <a:ext cx="2615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140"/>
                </a:solidFill>
              </a:rPr>
              <a:t>English has millions of labeled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40"/>
                </a:solidFill>
              </a:rPr>
              <a:t>alignment datasets. Hindi has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40"/>
                </a:solidFill>
              </a:rPr>
              <a:t>almost none for alignment tasks.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2651760" cy="1024128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29626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B8F"/>
                </a:solidFill>
              </a:rPr>
              <a:t>Example: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72784" y="318211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140"/>
                </a:solidFill>
              </a:rPr>
              <a:t>Solution: Use pre-trained multilingual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40"/>
                </a:solidFill>
              </a:rPr>
              <a:t>models (LaBSE) that already understand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40"/>
                </a:solidFill>
              </a:rPr>
              <a:t>both languages without labeled data.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 —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078992" cy="1371600"/>
          </a:xfrm>
          <a:prstGeom prst="rect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Input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1810512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English sentence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entered in browser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53312" y="1783080"/>
            <a:ext cx="128016" cy="0"/>
          </a:xfrm>
          <a:prstGeom prst="line">
            <a:avLst/>
          </a:prstGeom>
          <a:noFill/>
          <a:ln w="31750">
            <a:solidFill>
              <a:srgbClr val="6B7F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44752" y="16642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CC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99616" y="1097280"/>
            <a:ext cx="1078992" cy="1371600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99616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NLLB-200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99616" y="1810512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Translation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English → Hindi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78608" y="1783080"/>
            <a:ext cx="128016" cy="0"/>
          </a:xfrm>
          <a:prstGeom prst="line">
            <a:avLst/>
          </a:prstGeom>
          <a:noFill/>
          <a:ln w="31750">
            <a:solidFill>
              <a:srgbClr val="6B7F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16642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CC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24912" y="1097280"/>
            <a:ext cx="1078992" cy="1371600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24912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LaBSE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24912" y="1810512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Word Embeddings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768-dim vectors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03904" y="1783080"/>
            <a:ext cx="128016" cy="0"/>
          </a:xfrm>
          <a:prstGeom prst="line">
            <a:avLst/>
          </a:prstGeom>
          <a:noFill/>
          <a:ln w="31750">
            <a:solidFill>
              <a:srgbClr val="6B7F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344" y="16642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CC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50208" y="1097280"/>
            <a:ext cx="1078992" cy="1371600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50208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Similarity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Matrix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50208" y="1810512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Cosine similarity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for every word pair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0" y="1783080"/>
            <a:ext cx="128016" cy="0"/>
          </a:xfrm>
          <a:prstGeom prst="line">
            <a:avLst/>
          </a:prstGeom>
          <a:noFill/>
          <a:ln w="31750">
            <a:solidFill>
              <a:srgbClr val="6B7F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6642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CC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75504" y="1097280"/>
            <a:ext cx="1078992" cy="1371600"/>
          </a:xfrm>
          <a:prstGeom prst="rect">
            <a:avLst/>
          </a:prstGeom>
          <a:solidFill>
            <a:srgbClr val="174578"/>
          </a:solidFill>
          <a:ln w="12700">
            <a:solidFill>
              <a:srgbClr val="1745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75504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Itermax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Algorithm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75504" y="1810512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Best alignment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pairs extracted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54496" y="1783080"/>
            <a:ext cx="128016" cy="0"/>
          </a:xfrm>
          <a:prstGeom prst="line">
            <a:avLst/>
          </a:prstGeom>
          <a:noFill/>
          <a:ln w="31750">
            <a:solidFill>
              <a:srgbClr val="6B7F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16642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CC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1097280"/>
            <a:ext cx="1078992" cy="13716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Django API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1810512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Save to DB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Return JSON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79792" y="1783080"/>
            <a:ext cx="128016" cy="0"/>
          </a:xfrm>
          <a:prstGeom prst="line">
            <a:avLst/>
          </a:prstGeom>
          <a:noFill/>
          <a:ln w="31750">
            <a:solidFill>
              <a:srgbClr val="6B7F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1232" y="16642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CC"/>
                </a:solidFill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626096" y="1097280"/>
            <a:ext cx="1078992" cy="1371600"/>
          </a:xfrm>
          <a:prstGeom prst="rect">
            <a:avLst/>
          </a:prstGeom>
          <a:solidFill>
            <a:srgbClr val="3B82A0"/>
          </a:solidFill>
          <a:ln w="12700">
            <a:solidFill>
              <a:srgbClr val="3B8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26096" y="1188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Browser UI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626096" y="1810512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Table + Heatmap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D8F0"/>
                </a:solidFill>
              </a:rPr>
              <a:t>shown to user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2880" y="2788920"/>
            <a:ext cx="2057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82880" y="2788920"/>
            <a:ext cx="2057400" cy="36576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834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E8F"/>
                </a:solidFill>
              </a:rPr>
              <a:t>Browser → Django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3182112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User types English. JavaScript sends POST request to /api/align/ endpoint with the sentence.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395728" y="2788920"/>
            <a:ext cx="2057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395728" y="2788920"/>
            <a:ext cx="2057400" cy="36576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87168" y="2834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E8F"/>
                </a:solidFill>
              </a:rPr>
              <a:t>Translation Layer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87168" y="3182112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NLLB-200 (600M param model) translates English to natural, grammatically correct Hindi using beam search.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08576" y="2788920"/>
            <a:ext cx="2057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08576" y="2788920"/>
            <a:ext cx="2057400" cy="36576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0016" y="2834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E8F"/>
                </a:solidFill>
              </a:rPr>
              <a:t>Alignment Engine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00016" y="3182112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LaBSE generates 768-dim cross-lingual embeddings. Cosine similarity + Itermax finds word pairs.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21424" y="2788920"/>
            <a:ext cx="2057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21424" y="2788920"/>
            <a:ext cx="2057400" cy="36576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12864" y="2834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E8F"/>
                </a:solidFill>
              </a:rPr>
              <a:t>Storage &amp; Output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12864" y="3182112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Result saved to SQLite via Django ORM. JSON returned to browser for table &amp; heatmap rendering.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Translation Engine — NLLB-200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438912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is NLLB-200?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82880" cy="182880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545336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40"/>
                </a:solidFill>
              </a:rPr>
              <a:t>Built by Meta AI — released 2022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182880" cy="182880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02996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40"/>
                </a:solidFill>
              </a:rPr>
              <a:t>Trained on 200 languages including Hindi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82880" cy="182880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51460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40"/>
                </a:solidFill>
              </a:rPr>
              <a:t>Model used: facebook/nllb-200-distilled-600M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182880" cy="182880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999232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40"/>
                </a:solidFill>
              </a:rPr>
              <a:t>600 million parameters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182880" cy="182880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483864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40"/>
                </a:solidFill>
              </a:rPr>
              <a:t>Produces natural, grammatically correct Hindi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95928"/>
            <a:ext cx="182880" cy="182880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968496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40"/>
                </a:solidFill>
              </a:rPr>
              <a:t>Handles postpositions, verb-final structure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05840"/>
            <a:ext cx="4297680" cy="438912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058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Translation Works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572768"/>
            <a:ext cx="4005072" cy="530352"/>
          </a:xfrm>
          <a:prstGeom prst="rect">
            <a:avLst/>
          </a:prstGeom>
          <a:solidFill>
            <a:srgbClr val="F4F6FD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572768"/>
            <a:ext cx="54864" cy="530352"/>
          </a:xfrm>
          <a:prstGeom prst="rect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600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E8F"/>
                </a:solidFill>
              </a:rPr>
              <a:t>Step 1  Tokenization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8379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Sentence → subword tokens → number IDs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005072" cy="530352"/>
          </a:xfrm>
          <a:prstGeom prst="rect">
            <a:avLst/>
          </a:prstGeom>
          <a:solidFill>
            <a:srgbClr val="D6DCF5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212848"/>
            <a:ext cx="54864" cy="530352"/>
          </a:xfrm>
          <a:prstGeom prst="rect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2402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E8F"/>
                </a:solidFill>
              </a:rPr>
              <a:t>Step 2  Encoder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478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Reads all token IDs, builds sentence understanding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852928"/>
            <a:ext cx="4005072" cy="530352"/>
          </a:xfrm>
          <a:prstGeom prst="rect">
            <a:avLst/>
          </a:prstGeom>
          <a:solidFill>
            <a:srgbClr val="F4F6FD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852928"/>
            <a:ext cx="54864" cy="530352"/>
          </a:xfrm>
          <a:prstGeom prst="rect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8803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E8F"/>
                </a:solidFill>
              </a:rPr>
              <a:t>Step 3  Beam Search (5 beams)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1181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Keeps 5 translation candidates simultaneously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493008"/>
            <a:ext cx="4005072" cy="530352"/>
          </a:xfrm>
          <a:prstGeom prst="rect">
            <a:avLst/>
          </a:prstGeom>
          <a:solidFill>
            <a:srgbClr val="D6DCF5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493008"/>
            <a:ext cx="54864" cy="530352"/>
          </a:xfrm>
          <a:prstGeom prst="rect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5204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E8F"/>
                </a:solidFill>
              </a:rPr>
              <a:t>Step 4  Hindi Decoding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37581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Generates Hindi tokens one-by-one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4133088"/>
            <a:ext cx="4005072" cy="530352"/>
          </a:xfrm>
          <a:prstGeom prst="rect">
            <a:avLst/>
          </a:prstGeom>
          <a:solidFill>
            <a:srgbClr val="F4F6FD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4133088"/>
            <a:ext cx="54864" cy="530352"/>
          </a:xfrm>
          <a:prstGeom prst="rect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1605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E8F"/>
                </a:solidFill>
              </a:rPr>
              <a:t>Step 5  Output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398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"शिक्षक कक्षा में छात्रों को कठिन पाठ समझा रहा है"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Word Embeddings — LaBSE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D0F0EF"/>
          </a:solidFill>
          <a:ln w="19050">
            <a:solidFill>
              <a:srgbClr val="0B8B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LaBSE = Language-Agnostic BERT Sentence Embeddings  (Google Research)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3502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40"/>
                </a:solidFill>
              </a:rPr>
              <a:t>Specifically trained so "teacher" and "शिक्षक" produce nearly identical 768-dimensional vectors — even though they look completely different.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8F"/>
                </a:solidFill>
              </a:rPr>
              <a:t>Cross-lingual similarity in action: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1371600" cy="438912"/>
          </a:xfrm>
          <a:prstGeom prst="rect">
            <a:avLst/>
          </a:prstGeom>
          <a:solidFill>
            <a:srgbClr val="D6DCF5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240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E8F"/>
                </a:solidFill>
              </a:rPr>
              <a:t>teacher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2295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→ [0.21, −0.45, 0.83, ...]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240280"/>
            <a:ext cx="1371600" cy="438912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240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8B8F"/>
                </a:solidFill>
              </a:rPr>
              <a:t>शिक्षक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2304288"/>
            <a:ext cx="1005840" cy="310896"/>
          </a:xfrm>
          <a:prstGeom prst="rect">
            <a:avLst/>
          </a:prstGeom>
          <a:solidFill>
            <a:srgbClr val="4CAF50">
              <a:alpha val="2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3042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sim = 0.91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1371600" cy="438912"/>
          </a:xfrm>
          <a:prstGeom prst="rect">
            <a:avLst/>
          </a:prstGeom>
          <a:solidFill>
            <a:srgbClr val="D6DCF5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346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E8F"/>
                </a:solidFill>
              </a:rPr>
              <a:t>difficult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83080" y="2889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→ [0.21, −0.45, 0.83, ...]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03320" y="2834640"/>
            <a:ext cx="1371600" cy="438912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8346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8B8F"/>
                </a:solidFill>
              </a:rPr>
              <a:t>कठिन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2898648"/>
            <a:ext cx="1005840" cy="310896"/>
          </a:xfrm>
          <a:prstGeom prst="rect">
            <a:avLst/>
          </a:prstGeom>
          <a:solidFill>
            <a:srgbClr val="4CAF50">
              <a:alpha val="2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8986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sim = 0.88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429000"/>
            <a:ext cx="1371600" cy="438912"/>
          </a:xfrm>
          <a:prstGeom prst="rect">
            <a:avLst/>
          </a:prstGeom>
          <a:solidFill>
            <a:srgbClr val="D6DCF5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290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E8F"/>
                </a:solidFill>
              </a:rPr>
              <a:t>lesson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34838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→ [0.21, −0.45, 0.83, ...]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03320" y="3429000"/>
            <a:ext cx="1371600" cy="438912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34290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8B8F"/>
                </a:solidFill>
              </a:rPr>
              <a:t>पाठ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12080" y="3493008"/>
            <a:ext cx="1005840" cy="310896"/>
          </a:xfrm>
          <a:prstGeom prst="rect">
            <a:avLst/>
          </a:prstGeom>
          <a:solidFill>
            <a:srgbClr val="4CAF50">
              <a:alpha val="2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4930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sim = 0.85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023360"/>
            <a:ext cx="1371600" cy="438912"/>
          </a:xfrm>
          <a:prstGeom prst="rect">
            <a:avLst/>
          </a:prstGeom>
          <a:solidFill>
            <a:srgbClr val="D6DCF5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023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E8F"/>
                </a:solidFill>
              </a:rPr>
              <a:t>teacher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83080" y="40782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→ [0.21, −0.45, 0.83, ...]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03320" y="4023360"/>
            <a:ext cx="1371600" cy="438912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4023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8B8F"/>
                </a:solidFill>
              </a:rPr>
              <a:t>कठिन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212080" y="4087368"/>
            <a:ext cx="1005840" cy="310896"/>
          </a:xfrm>
          <a:prstGeom prst="rect">
            <a:avLst/>
          </a:prstGeom>
          <a:solidFill>
            <a:srgbClr val="EF5350">
              <a:alpha val="2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40873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</a:rPr>
              <a:t>sim = 0.08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1005840"/>
            <a:ext cx="24688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1005840"/>
            <a:ext cx="2468880" cy="384048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1005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Technical Steps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10528" y="1517904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9984" y="1481328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Tokenize each word into subword tokens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10528" y="2029968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1993392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Pass all tokens through LaBSE (12 layers)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510528" y="2542032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9984" y="2505456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Extract hidden states from Layer 8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510528" y="3054096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9984" y="3017520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Average subword vectors → 1 vector per word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10528" y="3566160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9984" y="3529584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Repeat for all Hindi words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510528" y="4078224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9984" y="4041648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Result: matrices of shape (n_words × 768)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Similarity Matrix — The Heatmap Foundation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40"/>
                </a:solidFill>
              </a:rPr>
              <a:t>Every English word is compared against every Hindi word using Cosine Similarity. The result is a matrix of scores — this becomes the visual heatmap.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923544" cy="457200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09728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8B8F"/>
                </a:solidFill>
              </a:rPr>
              <a:t>शिक्षक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1097280"/>
            <a:ext cx="923544" cy="457200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09728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8B8F"/>
                </a:solidFill>
              </a:rPr>
              <a:t>कठिन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923544" cy="457200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9728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8B8F"/>
                </a:solidFill>
              </a:rPr>
              <a:t>पाठ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097280"/>
            <a:ext cx="923544" cy="457200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09728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8B8F"/>
                </a:solidFill>
              </a:rPr>
              <a:t>में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600200"/>
            <a:ext cx="1078992" cy="530352"/>
          </a:xfrm>
          <a:prstGeom prst="rect">
            <a:avLst/>
          </a:prstGeom>
          <a:solidFill>
            <a:srgbClr val="D6DCF5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60020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E8F"/>
                </a:solidFill>
              </a:rPr>
              <a:t>teacher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1600200"/>
            <a:ext cx="923544" cy="530352"/>
          </a:xfrm>
          <a:prstGeom prst="rect">
            <a:avLst/>
          </a:prstGeom>
          <a:solidFill>
            <a:srgbClr val="0B8B8F"/>
          </a:solidFill>
          <a:ln w="6350">
            <a:solidFill>
              <a:srgbClr val="D0E8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1600200"/>
            <a:ext cx="923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0.91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31720" y="1600200"/>
            <a:ext cx="923544" cy="530352"/>
          </a:xfrm>
          <a:prstGeom prst="rect">
            <a:avLst/>
          </a:prstGeom>
          <a:solidFill>
            <a:srgbClr val="EAF6F7"/>
          </a:solidFill>
          <a:ln w="6350">
            <a:solidFill>
              <a:srgbClr val="D0E8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1600200"/>
            <a:ext cx="923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0.07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1600200"/>
            <a:ext cx="923544" cy="530352"/>
          </a:xfrm>
          <a:prstGeom prst="rect">
            <a:avLst/>
          </a:prstGeom>
          <a:solidFill>
            <a:srgbClr val="EAF6F7"/>
          </a:solidFill>
          <a:ln w="6350">
            <a:solidFill>
              <a:srgbClr val="D0E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600200"/>
            <a:ext cx="923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0.06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51960" y="1600200"/>
            <a:ext cx="923544" cy="530352"/>
          </a:xfrm>
          <a:prstGeom prst="rect">
            <a:avLst/>
          </a:prstGeom>
          <a:solidFill>
            <a:srgbClr val="EAF6F7"/>
          </a:solidFill>
          <a:ln w="6350">
            <a:solidFill>
              <a:srgbClr val="D0E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1600200"/>
            <a:ext cx="923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0.04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" y="2167128"/>
            <a:ext cx="1078992" cy="530352"/>
          </a:xfrm>
          <a:prstGeom prst="rect">
            <a:avLst/>
          </a:prstGeom>
          <a:solidFill>
            <a:srgbClr val="D6DCF5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167128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E8F"/>
                </a:solidFill>
              </a:rPr>
              <a:t>difficult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71600" y="2167128"/>
            <a:ext cx="923544" cy="530352"/>
          </a:xfrm>
          <a:prstGeom prst="rect">
            <a:avLst/>
          </a:prstGeom>
          <a:solidFill>
            <a:srgbClr val="EAF6F7"/>
          </a:solidFill>
          <a:ln w="6350">
            <a:solidFill>
              <a:srgbClr val="D0E8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2167128"/>
            <a:ext cx="923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0.07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331720" y="2167128"/>
            <a:ext cx="923544" cy="530352"/>
          </a:xfrm>
          <a:prstGeom prst="rect">
            <a:avLst/>
          </a:prstGeom>
          <a:solidFill>
            <a:srgbClr val="0B8B8F"/>
          </a:solidFill>
          <a:ln w="6350">
            <a:solidFill>
              <a:srgbClr val="D0E8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2167128"/>
            <a:ext cx="923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0.88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91840" y="2167128"/>
            <a:ext cx="923544" cy="530352"/>
          </a:xfrm>
          <a:prstGeom prst="rect">
            <a:avLst/>
          </a:prstGeom>
          <a:solidFill>
            <a:srgbClr val="EAF6F7"/>
          </a:solidFill>
          <a:ln w="6350">
            <a:solidFill>
              <a:srgbClr val="D0E8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167128"/>
            <a:ext cx="923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0.14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251960" y="2167128"/>
            <a:ext cx="923544" cy="530352"/>
          </a:xfrm>
          <a:prstGeom prst="rect">
            <a:avLst/>
          </a:prstGeom>
          <a:solidFill>
            <a:srgbClr val="EAF6F7"/>
          </a:solidFill>
          <a:ln w="6350">
            <a:solidFill>
              <a:srgbClr val="D0E8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2167128"/>
            <a:ext cx="923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0.05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28600" y="2734056"/>
            <a:ext cx="1078992" cy="530352"/>
          </a:xfrm>
          <a:prstGeom prst="rect">
            <a:avLst/>
          </a:prstGeom>
          <a:solidFill>
            <a:srgbClr val="D6DCF5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734056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E8F"/>
                </a:solidFill>
              </a:rPr>
              <a:t>lesson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371600" y="2734056"/>
            <a:ext cx="923544" cy="530352"/>
          </a:xfrm>
          <a:prstGeom prst="rect">
            <a:avLst/>
          </a:prstGeom>
          <a:solidFill>
            <a:srgbClr val="EAF6F7"/>
          </a:solidFill>
          <a:ln w="6350">
            <a:solidFill>
              <a:srgbClr val="D0E8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0" y="2734056"/>
            <a:ext cx="923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0.08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331720" y="2734056"/>
            <a:ext cx="923544" cy="530352"/>
          </a:xfrm>
          <a:prstGeom prst="rect">
            <a:avLst/>
          </a:prstGeom>
          <a:solidFill>
            <a:srgbClr val="EAF6F7"/>
          </a:solidFill>
          <a:ln w="6350">
            <a:solidFill>
              <a:srgbClr val="D0E8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31720" y="2734056"/>
            <a:ext cx="923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0.15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291840" y="2734056"/>
            <a:ext cx="923544" cy="530352"/>
          </a:xfrm>
          <a:prstGeom prst="rect">
            <a:avLst/>
          </a:prstGeom>
          <a:solidFill>
            <a:srgbClr val="0B8B8F"/>
          </a:solidFill>
          <a:ln w="6350">
            <a:solidFill>
              <a:srgbClr val="D0E8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2734056"/>
            <a:ext cx="923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0.85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251960" y="2734056"/>
            <a:ext cx="923544" cy="530352"/>
          </a:xfrm>
          <a:prstGeom prst="rect">
            <a:avLst/>
          </a:prstGeom>
          <a:solidFill>
            <a:srgbClr val="EAF6F7"/>
          </a:solidFill>
          <a:ln w="6350">
            <a:solidFill>
              <a:srgbClr val="D0E8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51960" y="2734056"/>
            <a:ext cx="923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0.06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5778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140"/>
                </a:solidFill>
              </a:rPr>
              <a:t>Color Legend: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77840" y="1938528"/>
            <a:ext cx="274320" cy="256032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25312" y="19385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≥ 0.80  Strong match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77840" y="2322576"/>
            <a:ext cx="274320" cy="256032"/>
          </a:xfrm>
          <a:prstGeom prst="rect">
            <a:avLst/>
          </a:prstGeom>
          <a:solidFill>
            <a:srgbClr val="5BC0C2"/>
          </a:solidFill>
          <a:ln w="12700">
            <a:solidFill>
              <a:srgbClr val="5BC0C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25312" y="23225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0.50–0.79  Partial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577840" y="2706624"/>
            <a:ext cx="274320" cy="256032"/>
          </a:xfrm>
          <a:prstGeom prst="rect">
            <a:avLst/>
          </a:prstGeom>
          <a:solidFill>
            <a:srgbClr val="B0DEE0"/>
          </a:solidFill>
          <a:ln w="12700">
            <a:solidFill>
              <a:srgbClr val="B0DE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25312" y="27066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0.20–0.49  Weak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577840" y="3090672"/>
            <a:ext cx="274320" cy="256032"/>
          </a:xfrm>
          <a:prstGeom prst="rect">
            <a:avLst/>
          </a:prstGeom>
          <a:solidFill>
            <a:srgbClr val="EAF6F7"/>
          </a:solidFill>
          <a:ln w="12700">
            <a:solidFill>
              <a:srgbClr val="EAF6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25312" y="30906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&lt; 0.20  No match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0" y="3611880"/>
            <a:ext cx="3429000" cy="1298448"/>
          </a:xfrm>
          <a:prstGeom prst="rect">
            <a:avLst/>
          </a:prstGeom>
          <a:solidFill>
            <a:srgbClr val="D0F0EF"/>
          </a:solidFill>
          <a:ln w="19050">
            <a:solidFill>
              <a:srgbClr val="0B8B8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3639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8B8F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577840" y="391363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A diagonal pattern of high values (top-left to bottom-right) = correct alignment.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This matrix is exactly what becomes the colour heatmap on the website.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Alignment Algorithms — Itermax + Bidirectional Softmax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87552"/>
            <a:ext cx="5029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87552"/>
            <a:ext cx="5029200" cy="438912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Itermax Algorithm  (Primary)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1517904"/>
            <a:ext cx="4791456" cy="777240"/>
          </a:xfrm>
          <a:prstGeom prst="rect">
            <a:avLst/>
          </a:prstGeom>
          <a:solidFill>
            <a:srgbClr val="F4F6FD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517904"/>
            <a:ext cx="932688" cy="777240"/>
          </a:xfrm>
          <a:prstGeom prst="rect">
            <a:avLst/>
          </a:prstGeom>
          <a:solidFill>
            <a:srgbClr val="2D3E8F">
              <a:alpha val="80000"/>
            </a:srgbClr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17904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Iteration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35024" y="1554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Find maximum value in the entire similarity matrix.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35024" y="19019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8B8F"/>
                </a:solidFill>
              </a:rPr>
              <a:t>Record that pair (e.g., teacher ↔ शिक्षक ✓)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432304"/>
            <a:ext cx="4791456" cy="777240"/>
          </a:xfrm>
          <a:prstGeom prst="rect">
            <a:avLst/>
          </a:prstGeom>
          <a:solidFill>
            <a:srgbClr val="D6DCF5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432304"/>
            <a:ext cx="932688" cy="777240"/>
          </a:xfrm>
          <a:prstGeom prst="rect">
            <a:avLst/>
          </a:prstGeom>
          <a:solidFill>
            <a:srgbClr val="2D3E8F">
              <a:alpha val="80000"/>
            </a:srgbClr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432304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Iteration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35024" y="24688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Set that entire row and column to 0 to prevent reuse.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35024" y="28163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8B8F"/>
                </a:solidFill>
              </a:rPr>
              <a:t>Find next maximum → difficult ↔ कठिन 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346704"/>
            <a:ext cx="4791456" cy="777240"/>
          </a:xfrm>
          <a:prstGeom prst="rect">
            <a:avLst/>
          </a:prstGeom>
          <a:solidFill>
            <a:srgbClr val="F4F6FD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3346704"/>
            <a:ext cx="932688" cy="777240"/>
          </a:xfrm>
          <a:prstGeom prst="rect">
            <a:avLst/>
          </a:prstGeom>
          <a:solidFill>
            <a:srgbClr val="2D3E8F">
              <a:alpha val="80000"/>
            </a:srgbClr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346704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Iteration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35024" y="33832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Repeat until matrix is all zeros or max iterations hit.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35024" y="37307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8B8F"/>
                </a:solidFill>
              </a:rPr>
              <a:t>lesson ↔ पाठ ✓  All aligned correctly!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4297680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140"/>
                </a:solidFill>
              </a:rPr>
              <a:t>Why Itermax?  Handles truly many-to-many alignments — e.g., 'has been explaining' ↔ 'समझा रहा है'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987552"/>
            <a:ext cx="33832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32120" y="987552"/>
            <a:ext cx="3383280" cy="438912"/>
          </a:xfrm>
          <a:prstGeom prst="rect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9875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Bidirectional Softmax (Support)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50992" y="1554480"/>
            <a:ext cx="182880" cy="182880"/>
          </a:xfrm>
          <a:prstGeom prst="ellipse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8736" y="1517904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Forward pass: each English word finds best Hindi match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50992" y="2139696"/>
            <a:ext cx="182880" cy="182880"/>
          </a:xfrm>
          <a:prstGeom prst="ellipse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88736" y="210312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Backward pass: each Hindi word finds best English match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50992" y="2724912"/>
            <a:ext cx="182880" cy="182880"/>
          </a:xfrm>
          <a:prstGeom prst="ellipse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88736" y="268833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Keep pair ONLY if BOTH directions agree (threshold &gt; 0.25)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50992" y="3310128"/>
            <a:ext cx="182880" cy="182880"/>
          </a:xfrm>
          <a:prstGeom prst="ellipse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88736" y="327355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Catches alignments that Itermax might miss at the margins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50992" y="3895344"/>
            <a:ext cx="182880" cy="182880"/>
          </a:xfrm>
          <a:prstGeom prst="ellipse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8736" y="385876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40"/>
                </a:solidFill>
              </a:rPr>
              <a:t>Final result = union of Itermax ∪ Bidirectional pairs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23560" y="4251960"/>
            <a:ext cx="3218688" cy="594360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427939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2B5E"/>
                </a:solidFill>
              </a:rPr>
              <a:t>Together they handle 1-to-1, 1-to-many, and many-to-many alignments robustly.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Django Web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1188720" cy="841248"/>
          </a:xfrm>
          <a:prstGeom prst="rect">
            <a:avLst/>
          </a:prstGeom>
          <a:solidFill>
            <a:srgbClr val="2D3E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apps.py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72184" y="1078992"/>
            <a:ext cx="2889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Loads NLLB-200 and LaBSE ONCE at server startup. Stores them as class variables so all requests share the same loaded models.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20116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011680"/>
            <a:ext cx="1188720" cy="841248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01168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translator.py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72184" y="2084832"/>
            <a:ext cx="2889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Python class wrapping NLLB-200. One method: translate(sentence) → Hindi string. Uses beam search with 5 beams.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301752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017520"/>
            <a:ext cx="1188720" cy="841248"/>
          </a:xfrm>
          <a:prstGeom prst="rect">
            <a:avLst/>
          </a:prstGeom>
          <a:solidFill>
            <a:srgbClr val="2D3E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01752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aligner.py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72184" y="3090672"/>
            <a:ext cx="2889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Python class wrapping LaBSE + Itermax. One method: align(src, tgt) → word pairs, similarity matrix, grouped rows.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402336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4023360"/>
            <a:ext cx="1188720" cy="841248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02336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views.py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72184" y="4096512"/>
            <a:ext cx="2889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AlignView handles POST /api/align/. Calls translator → aligner → saves to DB → returns JSON. HistoryView returns past results.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05840"/>
            <a:ext cx="1188720" cy="841248"/>
          </a:xfrm>
          <a:prstGeom prst="rect">
            <a:avLst/>
          </a:prstGeom>
          <a:solidFill>
            <a:srgbClr val="2D3E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00584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models.py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07024" y="1078992"/>
            <a:ext cx="2889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AlignmentResult stores English, Hindi, alignment pairs, similarity matrix and timestamp in SQLite.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0116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011680"/>
            <a:ext cx="1188720" cy="841248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01168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serializers.py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07024" y="2084832"/>
            <a:ext cx="2889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Validates incoming requests. Ensures English input is not empty or too long before NLP processing.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017520"/>
            <a:ext cx="1188720" cy="841248"/>
          </a:xfrm>
          <a:prstGeom prst="rect">
            <a:avLst/>
          </a:prstGeom>
          <a:solidFill>
            <a:srgbClr val="2D3E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01752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urls.py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07024" y="3090672"/>
            <a:ext cx="2889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Routes /api/align/ to AlignView and /api/history/ to HistoryView. Root / serves index.html.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402336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4023360"/>
            <a:ext cx="1188720" cy="841248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02336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index.html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07024" y="4096512"/>
            <a:ext cx="2889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Two text areas, Align button, results table, canvas for heatmap, and history list at the bottom.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5E"/>
                </a:solidFill>
              </a:rPr>
              <a:t>⚡  Performance key: Models loaded ONCE in apps.py. Without this, each request would take 30-40s just loading the model.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Request Lifecycle — What Happens When You Click Align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" cy="658368"/>
          </a:xfrm>
          <a:prstGeom prst="rect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042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140"/>
                </a:solidFill>
              </a:rPr>
              <a:t>User 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335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Types English sentence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Clicks Align button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03120" y="166420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CC"/>
                </a:solidFill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73936"/>
            <a:ext cx="411480" cy="658368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140"/>
                </a:solidFill>
              </a:rPr>
              <a:t>JS fetch()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POST /api/align/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{ english: '...' 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03120" y="243230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CC"/>
                </a:solidFill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42032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42032"/>
            <a:ext cx="411480" cy="658368"/>
          </a:xfrm>
          <a:prstGeom prst="rect">
            <a:avLst/>
          </a:prstGeom>
          <a:solidFill>
            <a:srgbClr val="2D5A7B"/>
          </a:solidFill>
          <a:ln w="12700">
            <a:solidFill>
              <a:srgbClr val="2D5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4203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2578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140"/>
                </a:solidFill>
              </a:rPr>
              <a:t>Django 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2871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Validates input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via serializers.py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03120" y="320040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CC"/>
                </a:solidFill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10128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10128"/>
            <a:ext cx="411480" cy="658368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1012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33467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140"/>
                </a:solidFill>
              </a:rPr>
              <a:t>NLLB-200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Translates to Hindi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Beam search x5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03120" y="39684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CC"/>
                </a:solidFill>
              </a:rPr>
              <a:t>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78224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078224"/>
            <a:ext cx="411480" cy="658368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7822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1248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140"/>
                </a:solidFill>
              </a:rPr>
              <a:t>LaBSE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" y="4407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768-dim embeddings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for all words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100584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005840"/>
            <a:ext cx="411480" cy="658368"/>
          </a:xfrm>
          <a:prstGeom prst="rect">
            <a:avLst/>
          </a:prstGeom>
          <a:solidFill>
            <a:srgbClr val="174578"/>
          </a:solidFill>
          <a:ln w="12700">
            <a:solidFill>
              <a:srgbClr val="1745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00584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30368" y="1042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140"/>
                </a:solidFill>
              </a:rPr>
              <a:t>Itermax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30368" y="1335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Extracts alignment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pairs from matrix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92240" y="166420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CC"/>
                </a:solidFill>
              </a:rPr>
              <a:t>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177393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1773936"/>
            <a:ext cx="411480" cy="658368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77393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30368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140"/>
                </a:solidFill>
              </a:rPr>
              <a:t>SQLite DB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30368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Saves result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with timestamp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92240" y="243230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CC"/>
                </a:solidFill>
              </a:rPr>
              <a:t>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2542032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2542032"/>
            <a:ext cx="411480" cy="658368"/>
          </a:xfrm>
          <a:prstGeom prst="rect">
            <a:avLst/>
          </a:prstGeom>
          <a:solidFill>
            <a:srgbClr val="38617A"/>
          </a:solidFill>
          <a:ln w="12700">
            <a:solidFill>
              <a:srgbClr val="3861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254203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230368" y="2578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140"/>
                </a:solidFill>
              </a:rPr>
              <a:t>JSON Response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30368" y="2871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Pairs + matrix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returned to browser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92240" y="320040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CC"/>
                </a:solidFill>
              </a:rPr>
              <a:t>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3310128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3310128"/>
            <a:ext cx="41148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31012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230368" y="33467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140"/>
                </a:solidFill>
              </a:rPr>
              <a:t>Browser Render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230368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Table + Canvas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heatmap drawn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011680" y="4800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↓  continues →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297680" y="3291840"/>
            <a:ext cx="457200" cy="0"/>
          </a:xfrm>
          <a:prstGeom prst="line">
            <a:avLst/>
          </a:prstGeom>
          <a:noFill/>
          <a:ln w="25400">
            <a:solidFill>
              <a:srgbClr val="6B7F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9768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FCC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Website UI — What the User Sees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5029200" cy="3977640"/>
          </a:xfrm>
          <a:prstGeom prst="rect">
            <a:avLst/>
          </a:prstGeom>
          <a:solidFill>
            <a:srgbClr val="EAEEF8"/>
          </a:solidFill>
          <a:ln w="19050">
            <a:solidFill>
              <a:srgbClr val="6B7F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87552"/>
            <a:ext cx="5029200" cy="457200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🔤 NLP Lab — English↔Hindi Word Aligner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4754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819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140"/>
                </a:solidFill>
              </a:rPr>
              <a:t>English: The teacher has been explaining the difficult lesson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4754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396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Hindi: (auto-translated by NLLB-200)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1097280" cy="292608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786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Align 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944368"/>
            <a:ext cx="4754880" cy="237744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44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#    English Word       Hindi Word(s)       Type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3200400"/>
            <a:ext cx="4754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186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140"/>
                </a:solidFill>
              </a:rPr>
              <a:t>1   teacher   →   शिक्षक   1→1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3474720"/>
            <a:ext cx="4754880" cy="256032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930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140"/>
                </a:solidFill>
              </a:rPr>
              <a:t>2   has been explaining   →   समझा रहा है   1→many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749040"/>
            <a:ext cx="4754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67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140"/>
                </a:solidFill>
              </a:rPr>
              <a:t>3   difficult   →   कठिन   1→1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4059936"/>
            <a:ext cx="4754880" cy="749808"/>
          </a:xfrm>
          <a:prstGeom prst="rect">
            <a:avLst/>
          </a:prstGeom>
          <a:solidFill>
            <a:srgbClr val="D0F0E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78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8B8F"/>
                </a:solidFill>
              </a:rPr>
              <a:t>🎨 Similarity Heatmap (Canvas 2D)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3342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140"/>
                </a:solidFill>
              </a:rPr>
              <a:t>High similarity = teal/green    Low similarity = light    Diagonal = correct alignment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59552" y="987552"/>
            <a:ext cx="335584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59552" y="987552"/>
            <a:ext cx="73152" cy="694944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10241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8F"/>
                </a:solidFill>
              </a:rPr>
              <a:t>Auto-Translation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87568" y="12984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Leave Hindi blank → NLLB-200 translates automatically. Or paste your own Hindi for custom testing.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59552" y="1773936"/>
            <a:ext cx="335584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59552" y="1773936"/>
            <a:ext cx="73152" cy="694944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18105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8F"/>
                </a:solidFill>
              </a:rPr>
              <a:t>Alignment Table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87568" y="20848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Shows every English word with its Hindi counterpart. Many-to-many rows are highlighted in yellow.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59552" y="2560320"/>
            <a:ext cx="335584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59552" y="2560320"/>
            <a:ext cx="73152" cy="694944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25968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8F"/>
                </a:solidFill>
              </a:rPr>
              <a:t>Visual Heatmap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87568" y="287121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Canvas 2D draws color-coded similarity scores. Red/teal = high match. Blue/light = no match.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59552" y="3346704"/>
            <a:ext cx="335584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59552" y="3346704"/>
            <a:ext cx="73152" cy="694944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33832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8F"/>
                </a:solidFill>
              </a:rPr>
              <a:t>JSON Download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87568" y="36576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Export any result as a .json file for offline research analysis or comparison.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59552" y="4133088"/>
            <a:ext cx="335584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59552" y="4133088"/>
            <a:ext cx="73152" cy="694944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41696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8F"/>
                </a:solidFill>
              </a:rPr>
              <a:t>History Panel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87568" y="44439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Every alignment is saved to SQLite. Past experiments shown at the bottom of the page.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Core Challenge — Many-to-Many Alignment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E8F"/>
                </a:solidFill>
              </a:rPr>
              <a:t>Why simple argmax fails, and how Itermax solves it: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English: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08760" y="1444752"/>
            <a:ext cx="1234440" cy="347472"/>
          </a:xfrm>
          <a:prstGeom prst="rect">
            <a:avLst/>
          </a:prstGeom>
          <a:solidFill>
            <a:srgbClr val="D6DCF5"/>
          </a:solidFill>
          <a:ln w="19050">
            <a:solidFill>
              <a:srgbClr val="6B7F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4447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E8F"/>
                </a:solidFill>
              </a:rPr>
              <a:t>has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444752"/>
            <a:ext cx="1234440" cy="347472"/>
          </a:xfrm>
          <a:prstGeom prst="rect">
            <a:avLst/>
          </a:prstGeom>
          <a:solidFill>
            <a:srgbClr val="D6DCF5"/>
          </a:solidFill>
          <a:ln w="19050">
            <a:solidFill>
              <a:srgbClr val="6B7F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4447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E8F"/>
                </a:solidFill>
              </a:rPr>
              <a:t>been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444752"/>
            <a:ext cx="1234440" cy="347472"/>
          </a:xfrm>
          <a:prstGeom prst="rect">
            <a:avLst/>
          </a:prstGeom>
          <a:solidFill>
            <a:srgbClr val="D6DCF5"/>
          </a:solidFill>
          <a:ln w="19050">
            <a:solidFill>
              <a:srgbClr val="6B7F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4447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E8F"/>
                </a:solidFill>
              </a:rPr>
              <a:t>explaining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Hindi: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08760" y="1920240"/>
            <a:ext cx="1234440" cy="347472"/>
          </a:xfrm>
          <a:prstGeom prst="rect">
            <a:avLst/>
          </a:prstGeom>
          <a:solidFill>
            <a:srgbClr val="D0F0EF"/>
          </a:solidFill>
          <a:ln w="19050">
            <a:solidFill>
              <a:srgbClr val="0B8B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19202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8B8F"/>
                </a:solidFill>
              </a:rPr>
              <a:t>समझा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0" y="1920240"/>
            <a:ext cx="1234440" cy="347472"/>
          </a:xfrm>
          <a:prstGeom prst="rect">
            <a:avLst/>
          </a:prstGeom>
          <a:solidFill>
            <a:srgbClr val="D0F0EF"/>
          </a:solidFill>
          <a:ln w="19050">
            <a:solidFill>
              <a:srgbClr val="0B8B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9202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8B8F"/>
                </a:solidFill>
              </a:rPr>
              <a:t>रहा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1920240"/>
            <a:ext cx="1234440" cy="347472"/>
          </a:xfrm>
          <a:prstGeom prst="rect">
            <a:avLst/>
          </a:prstGeom>
          <a:solidFill>
            <a:srgbClr val="D0F0EF"/>
          </a:solidFill>
          <a:ln w="19050">
            <a:solidFill>
              <a:srgbClr val="0B8B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19202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8B8F"/>
                </a:solidFill>
              </a:rPr>
              <a:t>है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0" y="1792224"/>
            <a:ext cx="2834640" cy="137160"/>
          </a:xfrm>
          <a:prstGeom prst="line">
            <a:avLst/>
          </a:prstGeom>
          <a:noFill/>
          <a:ln w="10160">
            <a:solidFill>
              <a:srgbClr val="6B7FC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246120" y="1792224"/>
            <a:ext cx="0" cy="137160"/>
          </a:xfrm>
          <a:prstGeom prst="line">
            <a:avLst/>
          </a:prstGeom>
          <a:noFill/>
          <a:ln w="10160">
            <a:solidFill>
              <a:srgbClr val="6B7FC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663440" y="1792224"/>
            <a:ext cx="0" cy="137160"/>
          </a:xfrm>
          <a:prstGeom prst="line">
            <a:avLst/>
          </a:prstGeom>
          <a:noFill/>
          <a:ln w="10160">
            <a:solidFill>
              <a:srgbClr val="6B7FC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828800" y="1792224"/>
            <a:ext cx="0" cy="137160"/>
          </a:xfrm>
          <a:prstGeom prst="line">
            <a:avLst/>
          </a:prstGeom>
          <a:noFill/>
          <a:ln w="10160">
            <a:solidFill>
              <a:srgbClr val="6B7FC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246120" y="1792224"/>
            <a:ext cx="1417320" cy="137160"/>
          </a:xfrm>
          <a:prstGeom prst="line">
            <a:avLst/>
          </a:prstGeom>
          <a:noFill/>
          <a:ln w="10160">
            <a:solidFill>
              <a:srgbClr val="6B7FC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663440" y="1792224"/>
            <a:ext cx="0" cy="137160"/>
          </a:xfrm>
          <a:prstGeom prst="line">
            <a:avLst/>
          </a:prstGeom>
          <a:noFill/>
          <a:ln w="10160">
            <a:solidFill>
              <a:srgbClr val="6B7FC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65760" y="2395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140"/>
                </a:solidFill>
              </a:rPr>
              <a:t>All 3 English words ("has", "been", "explaining") map to all 3 Hindi words ("समझा", "रहा", "है") but in rearranged order. This is a genuine many-to-many alignment.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03580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035808"/>
            <a:ext cx="2788920" cy="402336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2642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Argmax (Naïve)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3511296"/>
            <a:ext cx="146304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511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3858768"/>
            <a:ext cx="2642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Picks highest in each row independently. 'has', 'been', 'explaining' might all map to 'है'. Duplicates everywhere.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27832" y="303580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27832" y="3035808"/>
            <a:ext cx="2788920" cy="402336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00984" y="3035808"/>
            <a:ext cx="2642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Bidirectional Softmax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00984" y="3511296"/>
            <a:ext cx="1463040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00984" y="3511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PARTIAL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00984" y="3858768"/>
            <a:ext cx="2642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Checks both directions. Better than argmax but still struggles with true many-to-many regions where all scores are medium.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81344" y="303580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3035808"/>
            <a:ext cx="2788920" cy="402336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3035808"/>
            <a:ext cx="2642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Itermax Algorithm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54496" y="3511296"/>
            <a:ext cx="146304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4496" y="3511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CORRECT 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54496" y="3858768"/>
            <a:ext cx="2642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Greedily peels off the highest pair at each iteration. Zeroes out that row + column. Handles the entire 3×3 block correctly.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Folder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754880" cy="4005072"/>
          </a:xfrm>
          <a:prstGeom prst="rect">
            <a:avLst/>
          </a:prstGeom>
          <a:solidFill>
            <a:srgbClr val="1E2140"/>
          </a:solidFill>
          <a:ln w="12700">
            <a:solidFill>
              <a:srgbClr val="2D3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nlp_lab/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manage.py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51790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              ← secrets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nlp_lab/          ← project config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5681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settings.py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17627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urls.py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alignment/        ← NLP app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61518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apps.py       ← model loader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views.py      ← API logic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05409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models.py     ← DB schema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7355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nlp_engine/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4930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translator.py  ← NLLB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71246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F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aligner.py     ← LaBSE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9319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templates/index.html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1513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static/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437083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main.js        ← heatmap + fetch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5902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style.css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57800" y="987552"/>
            <a:ext cx="365760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57800" y="987552"/>
            <a:ext cx="3657600" cy="438912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98755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49240" y="1517904"/>
            <a:ext cx="3474720" cy="402336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54533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B8F"/>
                </a:solidFill>
              </a:rPr>
              <a:t>Translation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94960" y="17190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8F"/>
                </a:solidFill>
              </a:rPr>
              <a:t>facebook/nllb-200-distilled-600M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15361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600M param multilingual model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49240" y="1993392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0208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B8F"/>
                </a:solidFill>
              </a:rPr>
              <a:t>Embeddings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94960" y="21945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8F"/>
                </a:solidFill>
              </a:rPr>
              <a:t>setu4993/LaBSE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94960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768-dim cross-lingual vectors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49240" y="2468880"/>
            <a:ext cx="3474720" cy="402336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24963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B8F"/>
                </a:solidFill>
              </a:rPr>
              <a:t>Alignment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94960" y="26700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8F"/>
                </a:solidFill>
              </a:rPr>
              <a:t>Itermax + BiDirSoftmax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248716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From SimAlign framework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49240" y="2944368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29718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B8F"/>
                </a:solidFill>
              </a:rPr>
              <a:t>Web Framework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94960" y="314553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8F"/>
                </a:solidFill>
              </a:rPr>
              <a:t>Django 4.2+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94960" y="296265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Python-native, ORM included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49240" y="3419856"/>
            <a:ext cx="3474720" cy="402336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34472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B8F"/>
                </a:solidFill>
              </a:rPr>
              <a:t>API Layer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94960" y="3621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8F"/>
                </a:solidFill>
              </a:rPr>
              <a:t>Django REST Framework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343814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JSON serialization + throttle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49240" y="3895344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39227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B8F"/>
                </a:solidFill>
              </a:rPr>
              <a:t>Database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394960" y="40965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8F"/>
                </a:solidFill>
              </a:rPr>
              <a:t>SQLite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94960" y="391363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Zero config, built-in Python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349240" y="4370832"/>
            <a:ext cx="3474720" cy="402336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94960" y="439826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8B8F"/>
                </a:solidFill>
              </a:rPr>
              <a:t>Frontend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394960" y="45720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8F"/>
                </a:solidFill>
              </a:rPr>
              <a:t>HTML5 Canvas API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94960" y="43891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Native browser heatmap rendering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These Technologies? —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87552"/>
            <a:ext cx="1243584" cy="420624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9875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Component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08760" y="987552"/>
            <a:ext cx="1609344" cy="420624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3624" y="9875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We 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987552"/>
            <a:ext cx="1426464" cy="420624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9544" y="9875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Alternative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87552"/>
            <a:ext cx="4443984" cy="420624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98755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Our Choice Wins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435608"/>
            <a:ext cx="124358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" y="1453896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8F"/>
                </a:solidFill>
              </a:rPr>
              <a:t>Translation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08760" y="1435608"/>
            <a:ext cx="160934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63624" y="14538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NLLB-200 (Meta AI)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1435608"/>
            <a:ext cx="142646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9544" y="1453896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opus-mt-en-hi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1435608"/>
            <a:ext cx="444398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1453896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NLLB trained on 200 languages, produces natural Hindi. opus-mt produces grammatically broken output.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020824"/>
            <a:ext cx="1243584" cy="548640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" y="2039112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8F"/>
                </a:solidFill>
              </a:rPr>
              <a:t>Embeddings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508760" y="2020824"/>
            <a:ext cx="1609344" cy="548640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63624" y="203911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LaBSE (Google)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54680" y="2020824"/>
            <a:ext cx="1426464" cy="548640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9544" y="2039112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mBERT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020824"/>
            <a:ext cx="4443984" cy="548640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2039112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LaBSE explicitly trained for cross-lingual similarity. mBERT not optimised to align meanings across languages.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2606040"/>
            <a:ext cx="124358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624328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8F"/>
                </a:solidFill>
              </a:rPr>
              <a:t>Alignment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508760" y="2606040"/>
            <a:ext cx="160934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63624" y="2624328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Itermax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54680" y="2606040"/>
            <a:ext cx="142646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9544" y="262432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Argmax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2606040"/>
            <a:ext cx="444398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72584" y="2624328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Itermax handles many-to-many. Argmax assigns multiple English words to same Hindi word.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3191256"/>
            <a:ext cx="1243584" cy="548640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" y="3209544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8F"/>
                </a:solidFill>
              </a:rPr>
              <a:t>Framework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508760" y="3191256"/>
            <a:ext cx="1609344" cy="548640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63624" y="3209544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Django + DRF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54680" y="3191256"/>
            <a:ext cx="1426464" cy="548640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9544" y="3209544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Flask / FastAPI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17720" y="3191256"/>
            <a:ext cx="4443984" cy="548640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72584" y="3209544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Django has ORM + templates + admin built in. One ecosystem for web + NLP.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3776472"/>
            <a:ext cx="124358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" y="379476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8F"/>
                </a:solidFill>
              </a:rPr>
              <a:t>Database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508760" y="3776472"/>
            <a:ext cx="160934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63624" y="379476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SQLite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54680" y="3776472"/>
            <a:ext cx="142646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9544" y="379476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PostgreSQL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17720" y="3776472"/>
            <a:ext cx="444398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72584" y="3794760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Zero config for research scale. Easy to export. Built into Python stdlib.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4361688"/>
            <a:ext cx="1243584" cy="548640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" y="4379976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8F"/>
                </a:solidFill>
              </a:rPr>
              <a:t>Heatmap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508760" y="4361688"/>
            <a:ext cx="1609344" cy="548640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63624" y="43799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HTML Canvas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154680" y="4361688"/>
            <a:ext cx="1426464" cy="548640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9544" y="4379976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matplotlib PNG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17720" y="4361688"/>
            <a:ext cx="4443984" cy="548640"/>
          </a:xfrm>
          <a:prstGeom prst="rect">
            <a:avLst/>
          </a:prstGeom>
          <a:solidFill>
            <a:srgbClr val="F4F6FD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72584" y="4379976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140"/>
                </a:solidFill>
              </a:rPr>
              <a:t>Canvas renders live in the browser. matplotlib requires server-side rendering + image transfer.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2D3E8F">
              <a:alpha val="50000"/>
            </a:srgbClr>
          </a:solidFill>
          <a:ln w="12700">
            <a:solidFill>
              <a:srgbClr val="2D3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0B8B8F">
              <a:alpha val="35000"/>
            </a:srgbClr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 &amp; 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394960" cy="749808"/>
          </a:xfrm>
          <a:prstGeom prst="rect">
            <a:avLst/>
          </a:prstGeom>
          <a:solidFill>
            <a:srgbClr val="263580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749808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42416"/>
            <a:ext cx="5175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Built a zero-shot word alignment system for English → Hindi using pre-trained multilingual models — no labeled data required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5394960" cy="749808"/>
          </a:xfrm>
          <a:prstGeom prst="rect">
            <a:avLst/>
          </a:prstGeom>
          <a:solidFill>
            <a:srgbClr val="263580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74520"/>
            <a:ext cx="73152" cy="749808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911096"/>
            <a:ext cx="5175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NLLB-200 delivers natural, grammatically correct Hindi translation using beam search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5394960" cy="749808"/>
          </a:xfrm>
          <a:prstGeom prst="rect">
            <a:avLst/>
          </a:prstGeom>
          <a:solidFill>
            <a:srgbClr val="263580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743200"/>
            <a:ext cx="73152" cy="749808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779776"/>
            <a:ext cx="5175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LaBSE 768-dim embeddings + Itermax algorithm correctly handle 1-to-1 and many-to-many word alignments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5394960" cy="749808"/>
          </a:xfrm>
          <a:prstGeom prst="rect">
            <a:avLst/>
          </a:prstGeom>
          <a:solidFill>
            <a:srgbClr val="263580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11880"/>
            <a:ext cx="73152" cy="749808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648456"/>
            <a:ext cx="5175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Integrated into a live Django website with REST API, persistent database, and interactive heatmap visualization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97880" y="1005840"/>
            <a:ext cx="3017520" cy="4023360"/>
          </a:xfrm>
          <a:prstGeom prst="rect">
            <a:avLst/>
          </a:prstGeom>
          <a:solidFill>
            <a:srgbClr val="263580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1005840"/>
            <a:ext cx="3017520" cy="402336"/>
          </a:xfrm>
          <a:prstGeom prst="rect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0058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16752" y="1536192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149961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Extend to other Indian languages (Tamil, Marathi, Bengali)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16752" y="1975104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93852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Add AER / F1 evaluation metrics with benchmark datasets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16752" y="2414016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37744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Phrase-level alignment (not just word-level)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16752" y="2852928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281635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Real-time collaboration — multiple users sharing alignments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16752" y="3291840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3255264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Fine-tune LaBSE on Hindi-specific parallel corpora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16752" y="3730752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369417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Export aligned data as TMX format for translators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16752" y="4169664"/>
            <a:ext cx="164592" cy="164592"/>
          </a:xfrm>
          <a:prstGeom prst="ellipse">
            <a:avLst/>
          </a:prstGeom>
          <a:solidFill>
            <a:srgbClr val="0B8B8F"/>
          </a:solidFill>
          <a:ln w="12700">
            <a:solidFill>
              <a:srgbClr val="0B8B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5352" y="413308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Add confidence scores per alignment pair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2041</Words>
  <Application>Microsoft Office PowerPoint</Application>
  <PresentationFormat>On-screen Show (16:9)</PresentationFormat>
  <Paragraphs>399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(MS)</vt:lpstr>
      <vt:lpstr>Calibri (MS) Bold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Alignment for Low Resource Languages</dc:title>
  <dc:subject>PptxGenJS Presentation</dc:subject>
  <dc:creator>PptxGenJS</dc:creator>
  <cp:lastModifiedBy>Bhanu prakash Papabathina</cp:lastModifiedBy>
  <cp:revision>2</cp:revision>
  <dcterms:created xsi:type="dcterms:W3CDTF">2026-05-03T18:54:37Z</dcterms:created>
  <dcterms:modified xsi:type="dcterms:W3CDTF">2026-05-04T09:16:52Z</dcterms:modified>
</cp:coreProperties>
</file>